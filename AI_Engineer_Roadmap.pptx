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ENGINEER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886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to Production — A Complete 165-Day Path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4348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Python and statistics fundamentals, through classical ML and deep learning,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production-grade Generative AI, MLOps, and system design.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623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165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6263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5623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651760" y="6263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0" y="56235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480560" y="6263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TRACKS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build/icons/FiTrendingU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943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54864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From Real 2026 Job-Market Research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822960" y="12344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below was checked against live 2026 job postings, hiring-manager guides, and interview reports — not just tutorials.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822960" y="1965960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EDF1FC"/>
          </a:solidFill>
          <a:ln/>
        </p:spPr>
      </p:sp>
      <p:sp>
        <p:nvSpPr>
          <p:cNvPr id="6" name="Text 3"/>
          <p:cNvSpPr/>
          <p:nvPr/>
        </p:nvSpPr>
        <p:spPr>
          <a:xfrm>
            <a:off x="1051560" y="2075688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job postings now list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LangGraph, LlamaIndex, MCP, A2A, RAGAS, sandboxed execution, and voice/browser agents as required skills — not nice-to-haves.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22960" y="3081528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EDF1FC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3191256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differentiator on top-scoring resumes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naming a specific evaluation tool (RAGAS, DeepEval, LangSmith) — most candidates list none at all.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22960" y="4197096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EDF1FC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4306824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MLE interviews now test five areas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coding, ML fundamentals, ML system design, production/MLOps thinking, and project depth — MLOps is the phase most roadmaps underweight.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22960" y="5312664"/>
            <a:ext cx="10515600" cy="960120"/>
          </a:xfrm>
          <a:prstGeom prst="roundRect">
            <a:avLst>
              <a:gd name="adj" fmla="val 7619"/>
            </a:avLst>
          </a:prstGeom>
          <a:solidFill>
            <a:srgbClr val="EDF1FC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5422392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"Hybrid is the new specialist"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highest-demand engineers straddle ML + Deep Learning + GenAI + MLOps, exactly the structure of this roadmap.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Roadmap, Three Career Targets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the hybrid AI/ML Engineer role most 2026 postings actually ask for — while remaining strong for either specialization alone.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429000" cy="4114800"/>
          </a:xfrm>
          <a:prstGeom prst="roundRect">
            <a:avLst>
              <a:gd name="adj" fmla="val 2667"/>
            </a:avLst>
          </a:prstGeom>
          <a:solidFill>
            <a:srgbClr val="EDF1FC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331720"/>
            <a:ext cx="822960" cy="822960"/>
          </a:xfrm>
          <a:prstGeom prst="ellipse">
            <a:avLst/>
          </a:prstGeom>
          <a:solidFill>
            <a:srgbClr val="3B6FE0"/>
          </a:solidFill>
          <a:ln/>
        </p:spPr>
      </p:sp>
      <p:pic>
        <p:nvPicPr>
          <p:cNvPr id="6" name="Image 0" descr="/home/claude/pptx_build/icons/Fi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5146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337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Engineer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143000" y="38404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&amp; deep learning models, feature pipelines, MLOps, production model serving.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43000" y="5669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in Phases 1, 4, 8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80560" y="2011680"/>
            <a:ext cx="3429000" cy="4114800"/>
          </a:xfrm>
          <a:prstGeom prst="roundRect">
            <a:avLst>
              <a:gd name="adj" fmla="val 2667"/>
            </a:avLst>
          </a:prstGeom>
          <a:solidFill>
            <a:srgbClr val="EDF1FC"/>
          </a:solidFill>
          <a:ln/>
        </p:spPr>
      </p:sp>
      <p:sp>
        <p:nvSpPr>
          <p:cNvPr id="11" name="Shape 8"/>
          <p:cNvSpPr/>
          <p:nvPr/>
        </p:nvSpPr>
        <p:spPr>
          <a:xfrm>
            <a:off x="4800600" y="2331720"/>
            <a:ext cx="822960" cy="822960"/>
          </a:xfrm>
          <a:prstGeom prst="ellipse">
            <a:avLst/>
          </a:prstGeom>
          <a:solidFill>
            <a:srgbClr val="3B6FE0"/>
          </a:solidFill>
          <a:ln/>
        </p:spPr>
      </p:sp>
      <p:pic>
        <p:nvPicPr>
          <p:cNvPr id="12" name="Image 1" descr="/home/claude/pptx_build/icons/FiZ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5146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00600" y="3337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Engineer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4800600" y="38404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applications, RAG, agents, prompt engineering, evaluation, orchestration.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800600" y="5669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in Phases 5, 6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8160" y="2011680"/>
            <a:ext cx="3429000" cy="4114800"/>
          </a:xfrm>
          <a:prstGeom prst="roundRect">
            <a:avLst>
              <a:gd name="adj" fmla="val 2667"/>
            </a:avLst>
          </a:prstGeom>
          <a:solidFill>
            <a:srgbClr val="EDF1FC"/>
          </a:solidFill>
          <a:ln/>
        </p:spPr>
      </p:sp>
      <p:sp>
        <p:nvSpPr>
          <p:cNvPr id="17" name="Shape 13"/>
          <p:cNvSpPr/>
          <p:nvPr/>
        </p:nvSpPr>
        <p:spPr>
          <a:xfrm>
            <a:off x="8458200" y="2331720"/>
            <a:ext cx="822960" cy="822960"/>
          </a:xfrm>
          <a:prstGeom prst="ellipse">
            <a:avLst/>
          </a:prstGeom>
          <a:solidFill>
            <a:srgbClr val="3B6FE0"/>
          </a:solidFill>
          <a:ln/>
        </p:spPr>
      </p:sp>
      <p:pic>
        <p:nvPicPr>
          <p:cNvPr id="18" name="Image 2" descr="/home/claude/pptx_build/icons/Fi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51460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58200" y="3337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AI/ML Engineer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8458200" y="384048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most 2026 job postings ask for — comfortable across the full stack.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458200" y="5669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on all 10 phases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build/icons/Fi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1732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 — 10 Phases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82296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 days, start to finish.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22960" y="1600200"/>
            <a:ext cx="2212848" cy="2331720"/>
          </a:xfrm>
          <a:prstGeom prst="roundRect">
            <a:avLst>
              <a:gd name="adj" fmla="val 3306"/>
            </a:avLst>
          </a:prstGeom>
          <a:solidFill>
            <a:srgbClr val="1F2A4D"/>
          </a:solidFill>
          <a:ln/>
        </p:spPr>
      </p:sp>
      <p:sp>
        <p:nvSpPr>
          <p:cNvPr id="6" name="Text 3"/>
          <p:cNvSpPr/>
          <p:nvPr/>
        </p:nvSpPr>
        <p:spPr>
          <a:xfrm>
            <a:off x="932688" y="1691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pic>
        <p:nvPicPr>
          <p:cNvPr id="7" name="Image 1" descr="/home/claude/pptx_build/icons/Fi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888" y="17373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2688" y="2167128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Statistics Foundations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932688" y="30815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1-10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932688" y="338328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DAYS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145536" y="1600200"/>
            <a:ext cx="2212848" cy="2331720"/>
          </a:xfrm>
          <a:prstGeom prst="roundRect">
            <a:avLst>
              <a:gd name="adj" fmla="val 3306"/>
            </a:avLst>
          </a:prstGeom>
          <a:solidFill>
            <a:srgbClr val="1F2A4D"/>
          </a:solidFill>
          <a:ln/>
        </p:spPr>
      </p:sp>
      <p:sp>
        <p:nvSpPr>
          <p:cNvPr id="12" name="Text 8"/>
          <p:cNvSpPr/>
          <p:nvPr/>
        </p:nvSpPr>
        <p:spPr>
          <a:xfrm>
            <a:off x="3255264" y="1691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pic>
        <p:nvPicPr>
          <p:cNvPr id="13" name="Image 2" descr="/home/claude/pptx_build/icons/FiPercen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173736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55264" y="2167128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&amp; Inference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3255264" y="30815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11-20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3255264" y="338328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DAYS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68112" y="1600200"/>
            <a:ext cx="2212848" cy="2331720"/>
          </a:xfrm>
          <a:prstGeom prst="roundRect">
            <a:avLst>
              <a:gd name="adj" fmla="val 3306"/>
            </a:avLst>
          </a:prstGeom>
          <a:solidFill>
            <a:srgbClr val="1F2A4D"/>
          </a:solidFill>
          <a:ln/>
        </p:spPr>
      </p:sp>
      <p:sp>
        <p:nvSpPr>
          <p:cNvPr id="18" name="Text 13"/>
          <p:cNvSpPr/>
          <p:nvPr/>
        </p:nvSpPr>
        <p:spPr>
          <a:xfrm>
            <a:off x="5577840" y="1691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pic>
        <p:nvPicPr>
          <p:cNvPr id="19" name="Image 3" descr="/home/claude/pptx_build/icons/FiServe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73736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77840" y="2167128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Data Engineering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577840" y="30815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21-28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5577840" y="338328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DAYS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7790688" y="1600200"/>
            <a:ext cx="2212848" cy="2331720"/>
          </a:xfrm>
          <a:prstGeom prst="roundRect">
            <a:avLst>
              <a:gd name="adj" fmla="val 3306"/>
            </a:avLst>
          </a:prstGeom>
          <a:solidFill>
            <a:srgbClr val="1F2A4D"/>
          </a:solidFill>
          <a:ln/>
        </p:spPr>
      </p:sp>
      <p:sp>
        <p:nvSpPr>
          <p:cNvPr id="24" name="Text 18"/>
          <p:cNvSpPr/>
          <p:nvPr/>
        </p:nvSpPr>
        <p:spPr>
          <a:xfrm>
            <a:off x="7900416" y="1691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pic>
        <p:nvPicPr>
          <p:cNvPr id="25" name="Image 4" descr="/home/claude/pptx_build/icons/FaBrai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0616" y="173736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900416" y="2167128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Machine Learning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7900416" y="30815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29-55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7900416" y="338328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DAYS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10113264" y="1600200"/>
            <a:ext cx="2212848" cy="2331720"/>
          </a:xfrm>
          <a:prstGeom prst="roundRect">
            <a:avLst>
              <a:gd name="adj" fmla="val 3306"/>
            </a:avLst>
          </a:prstGeom>
          <a:solidFill>
            <a:srgbClr val="1F2A4D"/>
          </a:solidFill>
          <a:ln/>
        </p:spPr>
      </p:sp>
      <p:sp>
        <p:nvSpPr>
          <p:cNvPr id="30" name="Text 23"/>
          <p:cNvSpPr/>
          <p:nvPr/>
        </p:nvSpPr>
        <p:spPr>
          <a:xfrm>
            <a:off x="10222992" y="1691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pic>
        <p:nvPicPr>
          <p:cNvPr id="31" name="Image 5" descr="/home/claude/pptx_build/icons/FiLayer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23192" y="17373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222992" y="2167128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NLP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10222992" y="30815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56-86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10222992" y="338328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DAYS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822960" y="4114800"/>
            <a:ext cx="2212848" cy="2331720"/>
          </a:xfrm>
          <a:prstGeom prst="roundRect">
            <a:avLst>
              <a:gd name="adj" fmla="val 3306"/>
            </a:avLst>
          </a:prstGeom>
          <a:solidFill>
            <a:srgbClr val="1F2A4D"/>
          </a:solidFill>
          <a:ln/>
        </p:spPr>
      </p:sp>
      <p:sp>
        <p:nvSpPr>
          <p:cNvPr id="36" name="Text 28"/>
          <p:cNvSpPr/>
          <p:nvPr/>
        </p:nvSpPr>
        <p:spPr>
          <a:xfrm>
            <a:off x="932688" y="4206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pic>
        <p:nvPicPr>
          <p:cNvPr id="37" name="Image 6" descr="/home/claude/pptx_build/icons/FiMessageCircl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32888" y="4251960"/>
            <a:ext cx="320040" cy="32004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32688" y="4681728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Agents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932688" y="55961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87-112</a:t>
            </a:r>
            <a:endParaRPr lang="en-US" sz="950" dirty="0"/>
          </a:p>
        </p:txBody>
      </p:sp>
      <p:sp>
        <p:nvSpPr>
          <p:cNvPr id="40" name="Text 31"/>
          <p:cNvSpPr/>
          <p:nvPr/>
        </p:nvSpPr>
        <p:spPr>
          <a:xfrm>
            <a:off x="932688" y="589788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DAYS</a:t>
            </a:r>
            <a:endParaRPr lang="en-US" sz="1300" dirty="0"/>
          </a:p>
        </p:txBody>
      </p:sp>
      <p:sp>
        <p:nvSpPr>
          <p:cNvPr id="41" name="Shape 32"/>
          <p:cNvSpPr/>
          <p:nvPr/>
        </p:nvSpPr>
        <p:spPr>
          <a:xfrm>
            <a:off x="3145536" y="4114800"/>
            <a:ext cx="2212848" cy="2331720"/>
          </a:xfrm>
          <a:prstGeom prst="roundRect">
            <a:avLst>
              <a:gd name="adj" fmla="val 3306"/>
            </a:avLst>
          </a:prstGeom>
          <a:solidFill>
            <a:srgbClr val="1F2A4D"/>
          </a:solidFill>
          <a:ln/>
        </p:spPr>
      </p:sp>
      <p:sp>
        <p:nvSpPr>
          <p:cNvPr id="42" name="Text 33"/>
          <p:cNvSpPr/>
          <p:nvPr/>
        </p:nvSpPr>
        <p:spPr>
          <a:xfrm>
            <a:off x="3255264" y="4206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pic>
        <p:nvPicPr>
          <p:cNvPr id="43" name="Image 7" descr="/home/claude/pptx_build/icons/FaFlask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5464" y="4251960"/>
            <a:ext cx="320040" cy="32004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3255264" y="4681728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Evaluation &amp; Fine-Tuning</a:t>
            </a:r>
            <a:endParaRPr lang="en-US" sz="1150" dirty="0"/>
          </a:p>
        </p:txBody>
      </p:sp>
      <p:sp>
        <p:nvSpPr>
          <p:cNvPr id="45" name="Text 35"/>
          <p:cNvSpPr/>
          <p:nvPr/>
        </p:nvSpPr>
        <p:spPr>
          <a:xfrm>
            <a:off x="3255264" y="55961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113-128</a:t>
            </a:r>
            <a:endParaRPr lang="en-US" sz="950" dirty="0"/>
          </a:p>
        </p:txBody>
      </p:sp>
      <p:sp>
        <p:nvSpPr>
          <p:cNvPr id="46" name="Text 36"/>
          <p:cNvSpPr/>
          <p:nvPr/>
        </p:nvSpPr>
        <p:spPr>
          <a:xfrm>
            <a:off x="3255264" y="589788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DAYS</a:t>
            </a:r>
            <a:endParaRPr lang="en-US" sz="1300" dirty="0"/>
          </a:p>
        </p:txBody>
      </p:sp>
      <p:sp>
        <p:nvSpPr>
          <p:cNvPr id="47" name="Shape 37"/>
          <p:cNvSpPr/>
          <p:nvPr/>
        </p:nvSpPr>
        <p:spPr>
          <a:xfrm>
            <a:off x="5468112" y="4114800"/>
            <a:ext cx="2212848" cy="2331720"/>
          </a:xfrm>
          <a:prstGeom prst="roundRect">
            <a:avLst>
              <a:gd name="adj" fmla="val 3306"/>
            </a:avLst>
          </a:prstGeom>
          <a:solidFill>
            <a:srgbClr val="1F2A4D"/>
          </a:solidFill>
          <a:ln/>
        </p:spPr>
      </p:sp>
      <p:sp>
        <p:nvSpPr>
          <p:cNvPr id="48" name="Text 38"/>
          <p:cNvSpPr/>
          <p:nvPr/>
        </p:nvSpPr>
        <p:spPr>
          <a:xfrm>
            <a:off x="5577840" y="4206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pic>
        <p:nvPicPr>
          <p:cNvPr id="49" name="Image 8" descr="/home/claude/pptx_build/icons/FaRocket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8040" y="4251960"/>
            <a:ext cx="320040" cy="320040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5577840" y="4681728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&amp; Production Systems</a:t>
            </a:r>
            <a:endParaRPr lang="en-US" sz="1150" dirty="0"/>
          </a:p>
        </p:txBody>
      </p:sp>
      <p:sp>
        <p:nvSpPr>
          <p:cNvPr id="51" name="Text 40"/>
          <p:cNvSpPr/>
          <p:nvPr/>
        </p:nvSpPr>
        <p:spPr>
          <a:xfrm>
            <a:off x="5577840" y="55961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129-153</a:t>
            </a:r>
            <a:endParaRPr lang="en-US" sz="950" dirty="0"/>
          </a:p>
        </p:txBody>
      </p:sp>
      <p:sp>
        <p:nvSpPr>
          <p:cNvPr id="52" name="Text 41"/>
          <p:cNvSpPr/>
          <p:nvPr/>
        </p:nvSpPr>
        <p:spPr>
          <a:xfrm>
            <a:off x="5577840" y="589788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DAYS</a:t>
            </a:r>
            <a:endParaRPr lang="en-US" sz="1300" dirty="0"/>
          </a:p>
        </p:txBody>
      </p:sp>
      <p:sp>
        <p:nvSpPr>
          <p:cNvPr id="53" name="Shape 42"/>
          <p:cNvSpPr/>
          <p:nvPr/>
        </p:nvSpPr>
        <p:spPr>
          <a:xfrm>
            <a:off x="7790688" y="4114800"/>
            <a:ext cx="2212848" cy="2331720"/>
          </a:xfrm>
          <a:prstGeom prst="roundRect">
            <a:avLst>
              <a:gd name="adj" fmla="val 3306"/>
            </a:avLst>
          </a:prstGeom>
          <a:solidFill>
            <a:srgbClr val="1F2A4D"/>
          </a:solidFill>
          <a:ln/>
        </p:spPr>
      </p:sp>
      <p:sp>
        <p:nvSpPr>
          <p:cNvPr id="54" name="Text 43"/>
          <p:cNvSpPr/>
          <p:nvPr/>
        </p:nvSpPr>
        <p:spPr>
          <a:xfrm>
            <a:off x="7900416" y="4206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pic>
        <p:nvPicPr>
          <p:cNvPr id="55" name="Image 9" descr="/home/claude/pptx_build/icons/FiCompass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0616" y="4251960"/>
            <a:ext cx="320040" cy="320040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7900416" y="4681728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for AI/ML</a:t>
            </a:r>
            <a:endParaRPr lang="en-US" sz="1150" dirty="0"/>
          </a:p>
        </p:txBody>
      </p:sp>
      <p:sp>
        <p:nvSpPr>
          <p:cNvPr id="57" name="Text 45"/>
          <p:cNvSpPr/>
          <p:nvPr/>
        </p:nvSpPr>
        <p:spPr>
          <a:xfrm>
            <a:off x="7900416" y="55961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154-159</a:t>
            </a:r>
            <a:endParaRPr lang="en-US" sz="950" dirty="0"/>
          </a:p>
        </p:txBody>
      </p:sp>
      <p:sp>
        <p:nvSpPr>
          <p:cNvPr id="58" name="Text 46"/>
          <p:cNvSpPr/>
          <p:nvPr/>
        </p:nvSpPr>
        <p:spPr>
          <a:xfrm>
            <a:off x="7900416" y="589788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DAYS</a:t>
            </a:r>
            <a:endParaRPr lang="en-US" sz="1300" dirty="0"/>
          </a:p>
        </p:txBody>
      </p:sp>
      <p:sp>
        <p:nvSpPr>
          <p:cNvPr id="59" name="Shape 47"/>
          <p:cNvSpPr/>
          <p:nvPr/>
        </p:nvSpPr>
        <p:spPr>
          <a:xfrm>
            <a:off x="10113264" y="4114800"/>
            <a:ext cx="2212848" cy="2331720"/>
          </a:xfrm>
          <a:prstGeom prst="roundRect">
            <a:avLst>
              <a:gd name="adj" fmla="val 3306"/>
            </a:avLst>
          </a:prstGeom>
          <a:solidFill>
            <a:srgbClr val="1F2A4D"/>
          </a:solidFill>
          <a:ln/>
        </p:spPr>
      </p:sp>
      <p:sp>
        <p:nvSpPr>
          <p:cNvPr id="60" name="Text 48"/>
          <p:cNvSpPr/>
          <p:nvPr/>
        </p:nvSpPr>
        <p:spPr>
          <a:xfrm>
            <a:off x="10222992" y="4206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pic>
        <p:nvPicPr>
          <p:cNvPr id="61" name="Image 10" descr="/home/claude/pptx_build/icons/FiAward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23192" y="4251960"/>
            <a:ext cx="320040" cy="320040"/>
          </a:xfrm>
          <a:prstGeom prst="rect">
            <a:avLst/>
          </a:prstGeom>
        </p:spPr>
      </p:pic>
      <p:sp>
        <p:nvSpPr>
          <p:cNvPr id="62" name="Text 49"/>
          <p:cNvSpPr/>
          <p:nvPr/>
        </p:nvSpPr>
        <p:spPr>
          <a:xfrm>
            <a:off x="10222992" y="4681728"/>
            <a:ext cx="1993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Sprint</a:t>
            </a:r>
            <a:endParaRPr lang="en-US" sz="1150" dirty="0"/>
          </a:p>
        </p:txBody>
      </p:sp>
      <p:sp>
        <p:nvSpPr>
          <p:cNvPr id="63" name="Text 50"/>
          <p:cNvSpPr/>
          <p:nvPr/>
        </p:nvSpPr>
        <p:spPr>
          <a:xfrm>
            <a:off x="10222992" y="55961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160-165</a:t>
            </a:r>
            <a:endParaRPr lang="en-US" sz="950" dirty="0"/>
          </a:p>
        </p:txBody>
      </p:sp>
      <p:sp>
        <p:nvSpPr>
          <p:cNvPr id="64" name="Text 51"/>
          <p:cNvSpPr/>
          <p:nvPr/>
        </p:nvSpPr>
        <p:spPr>
          <a:xfrm>
            <a:off x="10222992" y="589788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DAYS</a:t>
            </a:r>
            <a:endParaRPr lang="en-US" sz="1300" dirty="0"/>
          </a:p>
        </p:txBody>
      </p:sp>
      <p:sp>
        <p:nvSpPr>
          <p:cNvPr id="65" name="Text 52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371600" cy="1371600"/>
          </a:xfrm>
          <a:prstGeom prst="ellipse">
            <a:avLst/>
          </a:prstGeom>
          <a:solidFill>
            <a:srgbClr val="1F2A4D"/>
          </a:solidFill>
          <a:ln w="25400">
            <a:solidFill>
              <a:srgbClr val="FF7A45"/>
            </a:solidFill>
            <a:prstDash val="solid"/>
          </a:ln>
        </p:spPr>
      </p:sp>
      <p:pic>
        <p:nvPicPr>
          <p:cNvPr id="4" name="Image 0" descr="/home/claude/pptx_build/icons/Fi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514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68880" y="2148840"/>
            <a:ext cx="8869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Statistics Foundations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46888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1-10   •   10 Days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6035040"/>
            <a:ext cx="10515600" cy="109728"/>
          </a:xfrm>
          <a:prstGeom prst="roundRect">
            <a:avLst>
              <a:gd name="adj" fmla="val 50000"/>
            </a:avLst>
          </a:prstGeom>
          <a:solidFill>
            <a:srgbClr val="1F2A4D"/>
          </a:solidFill>
          <a:ln/>
        </p:spPr>
      </p:sp>
      <p:sp>
        <p:nvSpPr>
          <p:cNvPr id="8" name="Shape 5"/>
          <p:cNvSpPr/>
          <p:nvPr/>
        </p:nvSpPr>
        <p:spPr>
          <a:xfrm>
            <a:off x="822960" y="6035040"/>
            <a:ext cx="637309" cy="109728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6217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966960" y="6217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STATISTICS 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1-4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fundamentals: arrays, indexing, broadcasting, vectorized operations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Series &amp; DataFrame; core data manipulation with Pandas &amp; NumPy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data from multiple sources: CSV, JSON, SQL databases, REST APIs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with Matplotlib: line, bar, scatter, subplot layouts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STATISTICS 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5-8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with Seaborn; building a first end-to-end EDA workflow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statistics; types of statistics; population vs sample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tendency &amp; dispersion; why we divide by n-1 for sample variance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deviation; variables &amp; random variables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STATISTICS FOUNDATIONS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9-10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Histograms; percentiles &amp; quartiles; the 5-number summary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covariance; intuition for spotting outliers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371600" cy="1371600"/>
          </a:xfrm>
          <a:prstGeom prst="ellipse">
            <a:avLst/>
          </a:prstGeom>
          <a:solidFill>
            <a:srgbClr val="1F2A4D"/>
          </a:solidFill>
          <a:ln w="25400">
            <a:solidFill>
              <a:srgbClr val="FF7A45"/>
            </a:solidFill>
            <a:prstDash val="solid"/>
          </a:ln>
        </p:spPr>
      </p:sp>
      <p:pic>
        <p:nvPicPr>
          <p:cNvPr id="4" name="Image 0" descr="/home/claude/pptx_build/icons/FiPercen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514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68880" y="2148840"/>
            <a:ext cx="8869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&amp; Inference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46888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11-20   •   10 Days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6035040"/>
            <a:ext cx="10515600" cy="109728"/>
          </a:xfrm>
          <a:prstGeom prst="roundRect">
            <a:avLst>
              <a:gd name="adj" fmla="val 50000"/>
            </a:avLst>
          </a:prstGeom>
          <a:solidFill>
            <a:srgbClr val="1F2A4D"/>
          </a:solidFill>
          <a:ln/>
        </p:spPr>
      </p:sp>
      <p:sp>
        <p:nvSpPr>
          <p:cNvPr id="8" name="Shape 5"/>
          <p:cNvSpPr/>
          <p:nvPr/>
        </p:nvSpPr>
        <p:spPr>
          <a:xfrm>
            <a:off x="1460269" y="6035040"/>
            <a:ext cx="637309" cy="109728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6217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966960" y="6217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&amp; INFERENCE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11-14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fundamentals: addition and multiplication rules; PDF/PMF/CDF; types of distributions; Bernoulli distribution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 distribution; Poisson distribution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Normal/Gaussian distribution; Standard Normal and Z-score; Uniform distribution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Log-normal, Power law, Pareto distributions; Central Limit Theorem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&amp; INFERENCE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15-18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theory; hypothesis testing fundamentals; understanding p-values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Z-test; Student's t-distribution and t-test; Z-test vs t-test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and Type II errors; Bayes' theorem; confidence intervals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 and chi-square goodness-of-fit test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&amp; INFERENCE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19-20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ANOVA: types, assumptions, and variance partitioning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full hypothesis-testing workflow on a real dataset - choosing the right test, interpreting results, reporting findings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371600" cy="1371600"/>
          </a:xfrm>
          <a:prstGeom prst="ellipse">
            <a:avLst/>
          </a:prstGeom>
          <a:solidFill>
            <a:srgbClr val="1F2A4D"/>
          </a:solidFill>
          <a:ln w="25400">
            <a:solidFill>
              <a:srgbClr val="FF7A45"/>
            </a:solidFill>
            <a:prstDash val="solid"/>
          </a:ln>
        </p:spPr>
      </p:sp>
      <p:pic>
        <p:nvPicPr>
          <p:cNvPr id="4" name="Image 0" descr="/home/claude/pptx_build/icons/Fi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514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68880" y="2148840"/>
            <a:ext cx="8869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&amp; Data Engineering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46888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21-28   •   8 Days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6035040"/>
            <a:ext cx="10515600" cy="109728"/>
          </a:xfrm>
          <a:prstGeom prst="roundRect">
            <a:avLst>
              <a:gd name="adj" fmla="val 50000"/>
            </a:avLst>
          </a:prstGeom>
          <a:solidFill>
            <a:srgbClr val="1F2A4D"/>
          </a:solidFill>
          <a:ln/>
        </p:spPr>
      </p:sp>
      <p:sp>
        <p:nvSpPr>
          <p:cNvPr id="8" name="Shape 5"/>
          <p:cNvSpPr/>
          <p:nvPr/>
        </p:nvSpPr>
        <p:spPr>
          <a:xfrm>
            <a:off x="2097578" y="6035040"/>
            <a:ext cx="509847" cy="109728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6217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966960" y="6217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DATA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21-24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fundamentals: SELECT, WHERE, ORDER BY, GROUP BY, HAVING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joins deep dive: inner/left/right/full, self-joins, multi-table joins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functions: ROW_NUMBER, RANK, LAG/LEAD, running totals; CTEs and subqueries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SQL: query optimization, indexes, reading EXPLAIN plans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DATA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25-28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concepts: ETL vs ELT; introduction to Airflow (DAGs, tasks, scheduling)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large datasets in Pandas: chunking, memory optimization, dtypes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at scale: encoding, scaling, building pipelines with scikit-learn Pipeline and ColumnTransformer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Mini-project: build a pipeline - pull from a SQL database, clean and engineer features, output a model-ready dataset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371600" cy="1371600"/>
          </a:xfrm>
          <a:prstGeom prst="ellipse">
            <a:avLst/>
          </a:prstGeom>
          <a:solidFill>
            <a:srgbClr val="1F2A4D"/>
          </a:solidFill>
          <a:ln w="25400">
            <a:solidFill>
              <a:srgbClr val="FF7A45"/>
            </a:solidFill>
            <a:prstDash val="solid"/>
          </a:ln>
        </p:spPr>
      </p:sp>
      <p:pic>
        <p:nvPicPr>
          <p:cNvPr id="4" name="Image 0" descr="/home/claude/pptx_build/icons/Fa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514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68880" y="2148840"/>
            <a:ext cx="8869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Machine Learning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46888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29-55   •   27 Days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6035040"/>
            <a:ext cx="10515600" cy="109728"/>
          </a:xfrm>
          <a:prstGeom prst="roundRect">
            <a:avLst>
              <a:gd name="adj" fmla="val 50000"/>
            </a:avLst>
          </a:prstGeom>
          <a:solidFill>
            <a:srgbClr val="1F2A4D"/>
          </a:solidFill>
          <a:ln/>
        </p:spPr>
      </p:sp>
      <p:sp>
        <p:nvSpPr>
          <p:cNvPr id="8" name="Shape 5"/>
          <p:cNvSpPr/>
          <p:nvPr/>
        </p:nvSpPr>
        <p:spPr>
          <a:xfrm>
            <a:off x="2607425" y="6035040"/>
            <a:ext cx="1720735" cy="109728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6217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966960" y="6217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MACHINE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29-32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on a real-world dataset; feature engineering fundamentals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paradigms: instance-based vs model-based learning; lines, planes, hyperplanes; distance from a plane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Regression: intuition and the underlying equations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functions and convergence; understanding gradient descent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MACHINE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33-36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metrics: MSE, MAE, RMSE, R-squared - when to use each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vs underfitting; solving linear regression with OLS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regression - full hands-on practical project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MACHINE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37-40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regression: intuition, implementation, pipeline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Ridge, Lasso and ElasticNet regularization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strategies and types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and hyperparameter tuning (Grid Search, Randomized Search CV)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MACHINE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41-44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 with MLflow / Weights and Biases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regression project: model pickling, deployment prep, Git basics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math intuition and classification performance metrics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One-vs-Rest; logistic regression implementation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MACHINE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45-48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imbalanced data; ROC curves and AUC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Machines: soft/hard margin, SVM math, the SVC cost function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Regression (SVR); kernels; implementing SVC, kernels and SVR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Bayes: Bayes' theorem, algorithm variants, hands-on practical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MACHINE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49-52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Neighbors: intuition, KD-Tree/Ball-Tree, classifier and regressor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Trees: entropy and Gini impurity, information gain, splitting criteria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Pre-pruning vs post-pruning; decision tree regression and implementation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 intro: bagging and boosting; Random Forests for regression and classification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MACHINE LEARNING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53-55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AdaBoost: intuition, decision stumps, weight updates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for regression and classification; introduction to XGBoost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and experimentation: A/B testing basics, statistical significance in model comparison; capstone classification project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371600" cy="1371600"/>
          </a:xfrm>
          <a:prstGeom prst="ellipse">
            <a:avLst/>
          </a:prstGeom>
          <a:solidFill>
            <a:srgbClr val="1F2A4D"/>
          </a:solidFill>
          <a:ln w="25400">
            <a:solidFill>
              <a:srgbClr val="FF7A45"/>
            </a:solidFill>
            <a:prstDash val="solid"/>
          </a:ln>
        </p:spPr>
      </p:sp>
      <p:pic>
        <p:nvPicPr>
          <p:cNvPr id="4" name="Image 0" descr="/home/claude/pptx_build/icons/Fi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514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68880" y="2148840"/>
            <a:ext cx="8869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&amp; NLP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46888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56-86   •   31 Days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6035040"/>
            <a:ext cx="10515600" cy="109728"/>
          </a:xfrm>
          <a:prstGeom prst="roundRect">
            <a:avLst>
              <a:gd name="adj" fmla="val 50000"/>
            </a:avLst>
          </a:prstGeom>
          <a:solidFill>
            <a:srgbClr val="1F2A4D"/>
          </a:solidFill>
          <a:ln/>
        </p:spPr>
      </p:sp>
      <p:sp>
        <p:nvSpPr>
          <p:cNvPr id="8" name="Shape 5"/>
          <p:cNvSpPr/>
          <p:nvPr/>
        </p:nvSpPr>
        <p:spPr>
          <a:xfrm>
            <a:off x="4328160" y="6035040"/>
            <a:ext cx="1975658" cy="109728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6217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966960" y="6217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NLP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56-59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intro; the curse of dimensionality; feature selection vs extraction; PCA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clustering: geometric intuition, choosing K, K-Means++, implementation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Hierarchical/Agglomerative clustering; DBSCAN clustering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score; anomaly detection with Isolation Forest, DBSCAN &amp; LOF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NLP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60-63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roadmap &amp; real-world use cases; tokenization; stemming, lemmatization &amp; stopword removal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tagging; Named Entity Recognition; One-Hot Encoding; Bag of Words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N-grams; TF-IDF (intuition + implementation)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embeddings; Word2Vec intuition (CBOW &amp; Skip-Gram)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NLP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64-67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Word2Vec; Word2Vec with Gensim; building a spam classifier (BOW &amp; TF-IDF)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 project; introduction to deep learning; the perceptron and its limitations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intuition &amp; learning process; backpropagation, weight updates &amp; the chain rule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&amp; exploding gradients; weight initialization strategies; dropout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NLP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68-71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functions: Sigmoid, Tanh, ReLU, Leaky/Parametric ReLU, ELU, Softmax - when to use each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vs cost functions; optimizers: GD, SGD, mini-batch, momentum, Adagrad, RMSProp, Adam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Networks: convolution, padding, pooling, flattening, an RGB walkthrough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architecture overview (LeNet, AlexNet, VGG intuition); end-to-end ANN classification project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NLP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72-75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computer vision survey: object detection (YOLO family), image segmentation, Vision Transformers (ViT) - what each is used for in industry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an ANN with Streamlit; ANN for regression; choosing optimal layers &amp; neurons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Networks: RNN vs ANN architecture; forward propagation through time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through time; core limitations of simple RNNs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NLP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76-79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LSTM; internal architecture: forget gate, input gate &amp; candidate memory, output gate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variants; Gated Recurrent Units (GRU)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project: next-word prediction (data prep, training, prediction, deployment)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RNNs; Encoder-Decoder (Seq2Seq) architecture and its limitations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NLP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80-83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attention mechanism; why it set the stage for Transformers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 overview; a deep dive into the self-attention layer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attention; feed-forward sublayers; positional encoding; layer normalization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encoder architecture; the decoder and masked multi-head attention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&amp; NLP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84-86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Encoder-decoder multi-head attention; final linear layer &amp; softmax output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Generative AI; how large language models are trained; the evolution of LLMs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build and train a small transformer, or fine-tune a small pretrained model end-to-end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371600" cy="1371600"/>
          </a:xfrm>
          <a:prstGeom prst="ellipse">
            <a:avLst/>
          </a:prstGeom>
          <a:solidFill>
            <a:srgbClr val="1F2A4D"/>
          </a:solidFill>
          <a:ln w="25400">
            <a:solidFill>
              <a:srgbClr val="FF7A45"/>
            </a:solidFill>
            <a:prstDash val="solid"/>
          </a:ln>
        </p:spPr>
      </p:sp>
      <p:pic>
        <p:nvPicPr>
          <p:cNvPr id="4" name="Image 0" descr="/home/claude/pptx_build/icons/FiMessageCir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514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68880" y="2148840"/>
            <a:ext cx="8869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 &amp; Agents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46888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87-112   •   26 Days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6035040"/>
            <a:ext cx="10515600" cy="109728"/>
          </a:xfrm>
          <a:prstGeom prst="roundRect">
            <a:avLst>
              <a:gd name="adj" fmla="val 50000"/>
            </a:avLst>
          </a:prstGeom>
          <a:solidFill>
            <a:srgbClr val="1F2A4D"/>
          </a:solidFill>
          <a:ln/>
        </p:spPr>
      </p:sp>
      <p:sp>
        <p:nvSpPr>
          <p:cNvPr id="8" name="Shape 5"/>
          <p:cNvSpPr/>
          <p:nvPr/>
        </p:nvSpPr>
        <p:spPr>
          <a:xfrm>
            <a:off x="6303818" y="6035040"/>
            <a:ext cx="1657004" cy="109728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6217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966960" y="6217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AGENTS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87-90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ecosystem and setup; core components; document loaders and text splitters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(OpenAI, Ollama, HuggingFace); vector stores (FAISS, ChromaDB, Pinecone, Qdrant, Weaviate)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Retrievers and chains; LCEL; prompt templates and conversational chat history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RAG document Q&amp;A app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AGENTS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91-94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chat-with-PDF retrieval system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LlamaIndex: an alternative RAG-focused framework - indexing strategies, query engines, and when to reach for it over LangChain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RAG with reciprocal rank fusion; reranking models (cross-encoders, Cohere Rerank)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GraphRAG: using graph databases (Neo4j) for knowledge-graph-based retrieval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AGENTS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95-98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RAG: indexing and retrieving images, tables, and long-document structure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GenAI apps (Streamlit Cloud, HF Spaces)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fundamentals: zero-shot and few-shot prompting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prompting; structured output patterns (Pydantic, JSON mode, function calling)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AGENTS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99-102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versioning and testing; prompt injection basics and defenses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prompting: ReAct pattern, self-consistency, prompt chaining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fundamentals; LLM integration patterns: invoke, batch and streaming; tools and message types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with Pydantic, TypedDict and dataclasses; human-in-the-loop workflows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AGENTS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103-106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Tool-using agents in practice: chat-with-SQL-database and search-engine GenAI apps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code execution for agents (E2B, Modal); giving agents safe, isolated tool access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LangGraph; building stateful, multi-step chatbots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RAG systems with LangGraph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AGENTS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107-110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 landscape: CrewAI, AutoGen, OpenAI Agents SDK - when to reach for each instead of LangGraph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 and Agent2Agent (A2A) protocol: concepts, components, communication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agents and computer-use agents: automating web tasks with an LLM in the loop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agents: speech-to-text (Whisper), text-to-speech, real-time voice API patterns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&amp; AGENTS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111-112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latency optimization: caching strategies, streaming responses, token budgeting; model selection tradeoffs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build a multi-agent RAG application with cost and latency considerations built in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371600" cy="1371600"/>
          </a:xfrm>
          <a:prstGeom prst="ellipse">
            <a:avLst/>
          </a:prstGeom>
          <a:solidFill>
            <a:srgbClr val="1F2A4D"/>
          </a:solidFill>
          <a:ln w="25400">
            <a:solidFill>
              <a:srgbClr val="FF7A45"/>
            </a:solidFill>
            <a:prstDash val="solid"/>
          </a:ln>
        </p:spPr>
      </p:sp>
      <p:pic>
        <p:nvPicPr>
          <p:cNvPr id="4" name="Image 0" descr="/home/claude/pptx_build/icons/FaFlas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514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68880" y="2148840"/>
            <a:ext cx="8869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Evaluation &amp; Fine-Tuning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46888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113-128   •   16 Days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6035040"/>
            <a:ext cx="10515600" cy="109728"/>
          </a:xfrm>
          <a:prstGeom prst="roundRect">
            <a:avLst>
              <a:gd name="adj" fmla="val 50000"/>
            </a:avLst>
          </a:prstGeom>
          <a:solidFill>
            <a:srgbClr val="1F2A4D"/>
          </a:solidFill>
          <a:ln/>
        </p:spPr>
      </p:sp>
      <p:sp>
        <p:nvSpPr>
          <p:cNvPr id="8" name="Shape 5"/>
          <p:cNvSpPr/>
          <p:nvPr/>
        </p:nvSpPr>
        <p:spPr>
          <a:xfrm>
            <a:off x="7960822" y="6035040"/>
            <a:ext cx="1019695" cy="109728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6217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966960" y="6217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EVALUATION &amp; FINE-TUNING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113-116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evaluation fundamentals: why evaluation is hard; automated vs human vs LLM-as-judge evaluation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eval harness with RAGAS and DeepEval: benchmark design, test set curation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RAG-specific evaluation metrics: faithfulness, relevance, context precision/recall; tools: TruLens, Braintrust, promptfoo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detection techniques; regression testing for LLM applications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EVALUATION &amp; FINE-TUNING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117-120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fundamentals; transfer learning for large language models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Parameter-efficient fine-tuning: LoRA, QLoRA and the PEFT framework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project: fine-tune a small open model on a custom dataset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and alignment basics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EVALUATION &amp; FINE-TUNING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121-124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Preference Optimization (DPO) and reinforcement fine-tuning (RFT) - modern alternatives to RLHF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tuning in practice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fine-tuning overview: adapting vision-language models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Red-teaming fundamentals: adversarial prompts, jailbreak patterns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EVALUATION &amp; FINE-TUNING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125-128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and safety filters; output validation techniques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safety/guardrail layer for a GenAI application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calibration: building and validating an LLM-as-judge evaluator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full evaluation report for a RAG/agent app - benchmarks, hallucination rate, safety testing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371600" cy="1371600"/>
          </a:xfrm>
          <a:prstGeom prst="ellipse">
            <a:avLst/>
          </a:prstGeom>
          <a:solidFill>
            <a:srgbClr val="1F2A4D"/>
          </a:solidFill>
          <a:ln w="25400">
            <a:solidFill>
              <a:srgbClr val="FF7A45"/>
            </a:solidFill>
            <a:prstDash val="solid"/>
          </a:ln>
        </p:spPr>
      </p:sp>
      <p:pic>
        <p:nvPicPr>
          <p:cNvPr id="4" name="Image 0" descr="/home/claude/pptx_build/icons/FaRock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514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68880" y="2148840"/>
            <a:ext cx="8869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MLOps &amp; Production Systems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46888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129-153   •   25 Days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6035040"/>
            <a:ext cx="10515600" cy="109728"/>
          </a:xfrm>
          <a:prstGeom prst="roundRect">
            <a:avLst>
              <a:gd name="adj" fmla="val 50000"/>
            </a:avLst>
          </a:prstGeom>
          <a:solidFill>
            <a:srgbClr val="1F2A4D"/>
          </a:solidFill>
          <a:ln/>
        </p:spPr>
      </p:sp>
      <p:sp>
        <p:nvSpPr>
          <p:cNvPr id="8" name="Shape 5"/>
          <p:cNvSpPr/>
          <p:nvPr/>
        </p:nvSpPr>
        <p:spPr>
          <a:xfrm>
            <a:off x="8980516" y="6035040"/>
            <a:ext cx="1593273" cy="109728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6217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966960" y="6217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&amp; PRODUCTION SYSTEMS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129-132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fundamentals: images, containers, Dockerfile basics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Containerizing a Python ML/AI application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for multi-service apps; container networking basics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best practices: multi-stage builds, image size optimization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&amp; PRODUCTION SYSTEMS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133-136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fundamentals: pods, deployments, services - why orchestration matters at scale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fundamentals: what CI/CD is; GitHub Actions basics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CI pipeline: automated testing for ML code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CD pipeline: automated deployment on merge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&amp; PRODUCTION SYSTEMS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137-140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ML systems: unit tests, data validation tests, model tests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138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model versioning with DVC (Data Version Control)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139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stores: concepts and hands-on with Feast - solving training/serving skew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fundamentals: building REST APIs with FastAPI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&amp; PRODUCTION SYSTEMS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141-144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and async serving; latency optimization techniques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LLM-specific serving: vLLM, TGI, quantization, and continuous batching for production LLM inference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basics: AWS/GCP fundamentals (compute, storage)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a model as a managed cloud endpoint (SageMaker/Vertex AI basics)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&amp; PRODUCTION SYSTEMS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145-148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fundamentals: logging, metrics, what to track for ML systems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 and data drift detection with Evidently AI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147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systems; observability tooling for LLM apps (LangSmith, Langfuse, Phoenix, Helicone)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monitoring and optimization in production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&amp; PRODUCTION SYSTEMS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149-152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vector databases for production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layers (Redis basics) for AI applications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handling and horizontal scaling concepts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retraining pipeline: data ingestion, training, validation, deployment with rollback triggers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&amp; PRODUCTION SYSTEMS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153-153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fully productionize an earlier project - containerize, add CI/CD, deploy, add monitoring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9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371600" cy="1371600"/>
          </a:xfrm>
          <a:prstGeom prst="ellipse">
            <a:avLst/>
          </a:prstGeom>
          <a:solidFill>
            <a:srgbClr val="1F2A4D"/>
          </a:solidFill>
          <a:ln w="25400">
            <a:solidFill>
              <a:srgbClr val="FF7A45"/>
            </a:solidFill>
            <a:prstDash val="solid"/>
          </a:ln>
        </p:spPr>
      </p:sp>
      <p:pic>
        <p:nvPicPr>
          <p:cNvPr id="4" name="Image 0" descr="/home/claude/pptx_build/icons/FiCompas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514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68880" y="2148840"/>
            <a:ext cx="8869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 for AI/ML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46888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154-159   •   6 Days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6035040"/>
            <a:ext cx="10515600" cy="109728"/>
          </a:xfrm>
          <a:prstGeom prst="roundRect">
            <a:avLst>
              <a:gd name="adj" fmla="val 50000"/>
            </a:avLst>
          </a:prstGeom>
          <a:solidFill>
            <a:srgbClr val="1F2A4D"/>
          </a:solidFill>
          <a:ln/>
        </p:spPr>
      </p:sp>
      <p:sp>
        <p:nvSpPr>
          <p:cNvPr id="8" name="Shape 5"/>
          <p:cNvSpPr/>
          <p:nvPr/>
        </p:nvSpPr>
        <p:spPr>
          <a:xfrm>
            <a:off x="10573789" y="6035040"/>
            <a:ext cx="382385" cy="109728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6217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966960" y="6217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FOR AI/ML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154-157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fundamentals for AI/ML: how to approach a design interview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production RAG system end-to-end (architecture diagram, trade-offs)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recommendation system end-to-end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real-time ML inference system (e.g. fraud detection style)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FOR AI/ML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158-159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vs buy trade-offs; managed vs self-hosted decisions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159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system design practice: 2-3 full design exercises with review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10 OF 10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1371600" cy="1371600"/>
          </a:xfrm>
          <a:prstGeom prst="ellipse">
            <a:avLst/>
          </a:prstGeom>
          <a:solidFill>
            <a:srgbClr val="1F2A4D"/>
          </a:solidFill>
          <a:ln w="25400">
            <a:solidFill>
              <a:srgbClr val="FF7A45"/>
            </a:solidFill>
            <a:prstDash val="solid"/>
          </a:ln>
        </p:spPr>
      </p:sp>
      <p:pic>
        <p:nvPicPr>
          <p:cNvPr id="4" name="Image 0" descr="/home/claude/pptx_build/icons/FiAwar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5146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68880" y="2148840"/>
            <a:ext cx="8869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 Sprint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46888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C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160-165   •   6 Days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6035040"/>
            <a:ext cx="10515600" cy="109728"/>
          </a:xfrm>
          <a:prstGeom prst="roundRect">
            <a:avLst>
              <a:gd name="adj" fmla="val 50000"/>
            </a:avLst>
          </a:prstGeom>
          <a:solidFill>
            <a:srgbClr val="1F2A4D"/>
          </a:solidFill>
          <a:ln/>
        </p:spPr>
      </p:sp>
      <p:sp>
        <p:nvSpPr>
          <p:cNvPr id="8" name="Shape 5"/>
          <p:cNvSpPr/>
          <p:nvPr/>
        </p:nvSpPr>
        <p:spPr>
          <a:xfrm>
            <a:off x="10956175" y="6035040"/>
            <a:ext cx="382385" cy="109728"/>
          </a:xfrm>
          <a:prstGeom prst="roundRect">
            <a:avLst>
              <a:gd name="adj" fmla="val 50000"/>
            </a:avLst>
          </a:prstGeom>
          <a:solidFill>
            <a:srgbClr val="FF7A45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6217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966960" y="6217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165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SPRINT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160-163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specialization track (ML Engineer / AI Engineer / MLOps Engineer / Computer Vision) and plan the sprint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deep-dive, day 1 (track-specific project work)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3959352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9593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37216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057400" y="3813048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deep-dive, day 2 (track-specific project work)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22960" y="5038344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5257800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57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502005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057400" y="5111496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deep-dive, day 3 (track-specific project work)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DF1FC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5029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SPRINT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5029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164-165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362456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3624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112471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57400" y="1216152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 deep-dive, day 4 - polish and finalize capstone project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15600" cy="1161288"/>
          </a:xfrm>
          <a:prstGeom prst="roundRect">
            <a:avLst>
              <a:gd name="adj" fmla="val 7087"/>
            </a:avLst>
          </a:prstGeom>
          <a:solidFill>
            <a:srgbClr val="ED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2660904"/>
            <a:ext cx="777240" cy="77724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6090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4231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057400" y="2514600"/>
            <a:ext cx="9052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capstone presentation; portfolio polish; resume and LinkedIn alignment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build/icons/FiFl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3063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165 Days From Now,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822960" y="36576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7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Not Just Job-Ready — You're Ahead Of The Curve.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22960" y="45720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9AA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-&gt; Classical ML -&gt; Deep Learning -&gt; Generative AI &amp; Agents -&gt; Evaluation &amp; Fine-Tuning -&gt; MLOps -&gt; System Design -&gt; Specialization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725912" y="6473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2026-08-03T04:47:11Z</dcterms:created>
  <dcterms:modified xsi:type="dcterms:W3CDTF">2026-08-03T04:47:11Z</dcterms:modified>
</cp:coreProperties>
</file>